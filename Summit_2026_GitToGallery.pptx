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4" r:id="rId5"/>
    <p:sldId id="322" r:id="rId6"/>
    <p:sldId id="311" r:id="rId7"/>
    <p:sldId id="312" r:id="rId8"/>
    <p:sldId id="320" r:id="rId9"/>
    <p:sldId id="310" r:id="rId10"/>
    <p:sldId id="317" r:id="rId11"/>
    <p:sldId id="318" r:id="rId12"/>
    <p:sldId id="321" r:id="rId13"/>
    <p:sldId id="319" r:id="rId14"/>
    <p:sldId id="315" r:id="rId15"/>
    <p:sldId id="316" r:id="rId16"/>
    <p:sldId id="29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C2D19-0730-64B5-0129-8732EE7DB6CC}" v="123" dt="2025-10-13T14:42:52.300"/>
    <p1510:client id="{E04624FD-B794-4535-80F2-2C1BB0C1FAB3}" v="18" dt="2025-10-13T14:39:0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176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7:14:23.43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4127 4915,'2'-5'0,"0"-1"0,0 1 0,1 0 0,-1 0 0,1 0 0,0 0 0,6-6 0,12-21 0,155-273 0,331-489 0,-9 90 0,-88 131 0,44-24 0,50 38 0,-397 449 0,129-102 0,-195 181-4,2 1-1,62-33 0,-84 51 75,1 2-1,1 0 0,0 2 1,0 0-1,1 2 0,0 0 0,28-2 1,-52 8-65,0 0 1,1 0-1,-1-1 0,0 1 1,0 0-1,1 0 1,-1 0-1,0 0 1,0 0-1,1 0 0,-1 0 1,0 0-1,0 0 1,1 0-1,-1 0 1,0 0-1,1 0 0,-1 0 1,0 0-1,0 0 1,1 0-1,-1 0 1,0 0-1,0 0 1,1 0-1,-1 0 0,0 0 1,0 1-1,1-1 1,-1 0-1,0 0 1,0 0-1,0 0 0,1 1 1,-1-1-1,0 0 1,0 0-1,0 1 1,0-1-1,1 0 0,-1 0 1,0 1-1,0-1 1,0 0-1,0 0 1,0 1-1,0-1 0,0 0 1,0 0-1,0 1 1,0-1-1,0 0 1,0 1-1,0-1 0,0 0 1,0 0-1,0 1 1,0-1-1,0 0 1,0 0-1,0 1 0,0-1 1,-1 0-1,1 0 1,0 1-1,0-1 1,-1 0-1,-13 16 220,14-16-216,-76 64 699,46-41-641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8T17:14:24.77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4915,'175'89'4046,"70"32"-609,104 58-219,86 34-47,-196-99-2351,562 274 1516,-17 45-1342,-460-225-994,-54-21 0,310 231 0,-479-344 0,309 246 0,-313-240 0,113 104 0,-197-168 0,0 0 0,-1 1 0,0 1 0,-2 0 0,0 0 0,11 31 0,-12-27 0,1-1 0,1 0 0,0-1 0,22 28 0,-5-16 0,30 39 0,-52-62 0,0 1 0,-1-1 0,0 1 0,0 0 0,-1 1 0,4 12 0,-2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was working yesterday — what changed?"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"Someone overwrote my script on the shared drive"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 have 6 versions of this script and I don't know which is current"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"Can we test this change without breaking production?"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need to prove this config didn't change during the incident window"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65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50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 have a module you're proud of, how do you share it? Right now you probably send a .zip, or push a file to a share, or paste a link to a repo. That's fine for 2 people. It doesn't scale.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an internal NuGet repository, your team can install your module with the same Install-Module command they use for anything from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PSGallery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control the versions. You can pull specific versions. You can proxy the public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PSGallery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it so you have a local cache.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when you're ready, you can push the same module to the public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PSGallery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share with the wider PowerShell community — with one pipeline step.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92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8C6D-427B-5291-7E52-12511C96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BEF0E-D751-5E37-6D99-62CC36B56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F687E-893B-FFD4-AB6D-E5B2ECD15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not just use GitHub or GitLab SaaS? Maybe you can. But consider: in many enterprise environments, internal scripts contain sensitive configuration, internal hostnames, credentials patterns — things you simply should not push to a US cloud provider.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as Europeans we should be honest: we're becoming more cautious about that. Schrems II, GDPR, and recent political winds all point in the same direction. Having infrastructure you control at home, in your datacenter, or in a European cloud is increasingly not just preference — it's prudent.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source adds another dimension: you can audit the code. You're not trusting a black box. You can contribute fixes. You're not dependent on a company's pricing decisions or product discontinuation.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tools I'll show you today run on remarkably low-powered hardware. We're not talking about a rack of servers. A Raspberry Pi or an old laptop can run this entire stack.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F0A37-E53C-DF97-2CD8-93BEB66C6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8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lap – </a:t>
            </a:r>
            <a:r>
              <a:rPr lang="en-US" dirty="0" err="1"/>
              <a:t>Forgejo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de-DE" b="1" dirty="0"/>
              <a:t>Gogs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8.png"/><Relationship Id="rId10" Type="http://schemas.openxmlformats.org/officeDocument/2006/relationships/image" Target="../media/image90.png"/><Relationship Id="rId4" Type="http://schemas.openxmlformats.org/officeDocument/2006/relationships/image" Target="../media/image7.svg"/><Relationship Id="rId9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From Git To Gallery</a:t>
            </a:r>
            <a:endParaRPr lang="en-US" sz="54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  <a:p>
            <a:pPr algn="ctr">
              <a:tabLst>
                <a:tab pos="3835400" algn="l"/>
              </a:tabLst>
            </a:pPr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Everything on-prem and open source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Emrys MacInally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 err="1">
                <a:latin typeface="Play"/>
                <a:cs typeface="Space Grotesk" pitchFamily="2" charset="0"/>
              </a:rPr>
              <a:t>Bsky</a:t>
            </a:r>
            <a:r>
              <a:rPr lang="en-US" b="1" spc="400" dirty="0">
                <a:latin typeface="Play"/>
                <a:cs typeface="Space Grotesk" pitchFamily="2" charset="0"/>
              </a:rPr>
              <a:t> @emrys.macinally.de</a:t>
            </a:r>
          </a:p>
        </p:txBody>
      </p:sp>
    </p:spTree>
    <p:extLst>
      <p:ext uri="{BB962C8B-B14F-4D97-AF65-F5344CB8AC3E}">
        <p14:creationId xmlns:p14="http://schemas.microsoft.com/office/powerpoint/2010/main" val="357822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0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C63580-3001-6420-CA57-7C67C08B0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1309" y="1493628"/>
            <a:ext cx="7690691" cy="4318000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Teamlead</a:t>
            </a:r>
            <a:r>
              <a:rPr lang="en-US" dirty="0">
                <a:solidFill>
                  <a:srgbClr val="000000"/>
                </a:solidFill>
              </a:rPr>
              <a:t> ATLAS @ </a:t>
            </a:r>
            <a:r>
              <a:rPr lang="en-US" dirty="0" err="1">
                <a:solidFill>
                  <a:srgbClr val="000000"/>
                </a:solidFill>
              </a:rPr>
              <a:t>medavis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Over 20 years in the IT Industry</a:t>
            </a:r>
          </a:p>
          <a:p>
            <a:r>
              <a:rPr lang="en-US" dirty="0">
                <a:solidFill>
                  <a:srgbClr val="000000"/>
                </a:solidFill>
              </a:rPr>
              <a:t>Fell in       with PowerShell 17 years ago</a:t>
            </a:r>
          </a:p>
          <a:p>
            <a:r>
              <a:rPr lang="en-US" dirty="0">
                <a:solidFill>
                  <a:srgbClr val="000000"/>
                </a:solidFill>
              </a:rPr>
              <a:t>…. and I hate PowerPoint!	https://powerpointisfun.com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566B78-559C-FC61-D023-1F2D5643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About Me</a:t>
            </a:r>
          </a:p>
        </p:txBody>
      </p:sp>
      <p:pic>
        <p:nvPicPr>
          <p:cNvPr id="4" name="Graphic 3" descr="Heart with solid fill">
            <a:extLst>
              <a:ext uri="{FF2B5EF4-FFF2-40B4-BE49-F238E27FC236}">
                <a16:creationId xmlns:a16="http://schemas.microsoft.com/office/drawing/2014/main" id="{1E632409-B36A-AD7D-E415-BFB448F87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4214" y="2452283"/>
            <a:ext cx="516834" cy="516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D5FAF-70A5-C1A2-A69B-ADF970362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7" y="1332019"/>
            <a:ext cx="2986406" cy="44796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6920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C9312-6A3E-96F0-EE01-E38F618DB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4318000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</a:rPr>
              <a:t>Why should you use git and build your PowerShell stuff</a:t>
            </a:r>
          </a:p>
          <a:p>
            <a:r>
              <a:rPr lang="en-US" b="0" dirty="0">
                <a:solidFill>
                  <a:srgbClr val="000000"/>
                </a:solidFill>
              </a:rPr>
              <a:t>Why self host your code CI and repositories</a:t>
            </a:r>
          </a:p>
          <a:p>
            <a:r>
              <a:rPr lang="en-US" dirty="0">
                <a:solidFill>
                  <a:srgbClr val="000000"/>
                </a:solidFill>
              </a:rPr>
              <a:t>Disclaimer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en-US" b="0" dirty="0">
                <a:solidFill>
                  <a:srgbClr val="000000"/>
                </a:solidFill>
              </a:rPr>
              <a:t>Demo</a:t>
            </a:r>
          </a:p>
          <a:p>
            <a:r>
              <a:rPr lang="en-US" b="0" dirty="0">
                <a:solidFill>
                  <a:srgbClr val="000000"/>
                </a:solidFill>
              </a:rPr>
              <a:t>Q&amp;A: Questions &amp; 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DB0063-FC79-9B2F-C90E-7A7345EF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ay  (Body)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5857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E9EA3-7B97-C248-8A0B-0CDCA2D1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3529B7-0EA2-0A37-DCA9-E7C09CEE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ay  (Body)"/>
              </a:rPr>
              <a:t>Why this talk?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3CA94-2038-2226-B506-7DD650BC2DEB}"/>
              </a:ext>
            </a:extLst>
          </p:cNvPr>
          <p:cNvSpPr/>
          <p:nvPr/>
        </p:nvSpPr>
        <p:spPr>
          <a:xfrm rot="387459">
            <a:off x="2813309" y="3055278"/>
            <a:ext cx="6181815" cy="7474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3200" dirty="0"/>
              <a:t>Why should I build my modules?</a:t>
            </a:r>
            <a:endParaRPr lang="de-DE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15D77-FB91-2730-5B75-165B7B73E2DB}"/>
              </a:ext>
            </a:extLst>
          </p:cNvPr>
          <p:cNvSpPr/>
          <p:nvPr/>
        </p:nvSpPr>
        <p:spPr>
          <a:xfrm rot="1268092">
            <a:off x="5922533" y="2135751"/>
            <a:ext cx="4683884" cy="7474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3200" dirty="0"/>
              <a:t>Source control is for </a:t>
            </a:r>
            <a:r>
              <a:rPr lang="en-US" sz="3200" dirty="0" err="1"/>
              <a:t>devs</a:t>
            </a:r>
            <a:r>
              <a:rPr lang="en-US" sz="3200" dirty="0"/>
              <a:t>!</a:t>
            </a:r>
            <a:endParaRPr lang="de-DE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E8CA0-20F1-B190-310F-66E0061EA853}"/>
              </a:ext>
            </a:extLst>
          </p:cNvPr>
          <p:cNvSpPr/>
          <p:nvPr/>
        </p:nvSpPr>
        <p:spPr>
          <a:xfrm rot="20017766">
            <a:off x="615379" y="1967418"/>
            <a:ext cx="3298005" cy="7474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3200" dirty="0"/>
              <a:t>Why do I need git?</a:t>
            </a:r>
            <a:endParaRPr lang="de-DE" sz="3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5AA071-EA33-DAB1-7658-9F87E3A009BC}"/>
              </a:ext>
            </a:extLst>
          </p:cNvPr>
          <p:cNvSpPr/>
          <p:nvPr/>
        </p:nvSpPr>
        <p:spPr>
          <a:xfrm rot="210113">
            <a:off x="410118" y="5008968"/>
            <a:ext cx="6209674" cy="7474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3200" dirty="0"/>
              <a:t>Copying &amp; pasting modules is fine</a:t>
            </a:r>
            <a:endParaRPr lang="de-DE" sz="3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6EB7C-7D91-9E61-8D26-D3D783AFEF4C}"/>
              </a:ext>
            </a:extLst>
          </p:cNvPr>
          <p:cNvSpPr/>
          <p:nvPr/>
        </p:nvSpPr>
        <p:spPr>
          <a:xfrm rot="1268092">
            <a:off x="6696236" y="4781813"/>
            <a:ext cx="4683884" cy="74744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3200" dirty="0"/>
              <a:t>I tested it on my machine</a:t>
            </a:r>
            <a:endParaRPr lang="de-DE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4D4E9-2C78-19F1-FBAB-EE6BDC7C21FD}"/>
              </a:ext>
            </a:extLst>
          </p:cNvPr>
          <p:cNvSpPr/>
          <p:nvPr/>
        </p:nvSpPr>
        <p:spPr>
          <a:xfrm rot="351523">
            <a:off x="904633" y="2493402"/>
            <a:ext cx="10579258" cy="1912359"/>
          </a:xfrm>
          <a:prstGeom prst="rect">
            <a:avLst/>
          </a:prstGeom>
          <a:solidFill>
            <a:schemeClr val="bg1"/>
          </a:solidFill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If you write code, you are a dev!</a:t>
            </a:r>
            <a:endParaRPr lang="de-DE" sz="6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24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927508-170F-5BBB-ADCA-92F3123375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6381" y="1270000"/>
            <a:ext cx="9903723" cy="4318000"/>
          </a:xfrm>
        </p:spPr>
        <p:txBody>
          <a:bodyPr/>
          <a:lstStyle/>
          <a:p>
            <a:r>
              <a:rPr lang="en-US" b="1" dirty="0"/>
              <a:t>History</a:t>
            </a:r>
            <a:r>
              <a:rPr lang="en-US" dirty="0"/>
              <a:t> — who changed what, when, and why (git log, git blame)</a:t>
            </a:r>
          </a:p>
          <a:p>
            <a:r>
              <a:rPr lang="en-US" b="1" dirty="0"/>
              <a:t>Undo</a:t>
            </a:r>
            <a:r>
              <a:rPr lang="en-US" dirty="0"/>
              <a:t> — go back to any version that worked</a:t>
            </a:r>
          </a:p>
          <a:p>
            <a:r>
              <a:rPr lang="en-US" b="1" dirty="0"/>
              <a:t>Collaboration</a:t>
            </a:r>
            <a:r>
              <a:rPr lang="en-US" dirty="0"/>
              <a:t> — multiple people, no overwrites, no "please don't touch my script"</a:t>
            </a:r>
          </a:p>
          <a:p>
            <a:r>
              <a:rPr lang="en-US" b="1" dirty="0"/>
              <a:t>Branching</a:t>
            </a:r>
            <a:r>
              <a:rPr lang="en-US" dirty="0"/>
              <a:t> — experiment safely, don't break production</a:t>
            </a:r>
          </a:p>
          <a:p>
            <a:r>
              <a:rPr lang="en-US" b="1" dirty="0"/>
              <a:t>Diff</a:t>
            </a:r>
            <a:r>
              <a:rPr lang="en-US" dirty="0"/>
              <a:t> — see exactly what changed between versions</a:t>
            </a:r>
          </a:p>
          <a:p>
            <a:r>
              <a:rPr lang="en-US" b="1" dirty="0"/>
              <a:t>Review</a:t>
            </a:r>
            <a:r>
              <a:rPr lang="en-US" dirty="0"/>
              <a:t> — pull requests = code review for non-developers too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24678-30A7-F9A8-B6E1-8B0E3127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git?</a:t>
            </a:r>
          </a:p>
        </p:txBody>
      </p:sp>
    </p:spTree>
    <p:extLst>
      <p:ext uri="{BB962C8B-B14F-4D97-AF65-F5344CB8AC3E}">
        <p14:creationId xmlns:p14="http://schemas.microsoft.com/office/powerpoint/2010/main" val="123897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67199-75BD-6FF6-A3D0-55BE0601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3D648-832F-347A-6DB4-532A6A37D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6381" y="1270000"/>
            <a:ext cx="10884788" cy="4318000"/>
          </a:xfrm>
        </p:spPr>
        <p:txBody>
          <a:bodyPr/>
          <a:lstStyle/>
          <a:p>
            <a:r>
              <a:rPr lang="en-US" b="1" dirty="0"/>
              <a:t>Automated tests</a:t>
            </a:r>
            <a:r>
              <a:rPr lang="en-US" dirty="0"/>
              <a:t> — run Pester tests on every commit, automatically</a:t>
            </a:r>
          </a:p>
          <a:p>
            <a:r>
              <a:rPr lang="en-US" b="1" dirty="0"/>
              <a:t>Consistent builds</a:t>
            </a:r>
            <a:r>
              <a:rPr lang="en-US" dirty="0"/>
              <a:t> — always built the same way, not on someone's laptop</a:t>
            </a:r>
          </a:p>
          <a:p>
            <a:r>
              <a:rPr lang="en-US" b="1" dirty="0"/>
              <a:t>Code quality</a:t>
            </a:r>
            <a:r>
              <a:rPr lang="en-US" dirty="0"/>
              <a:t> — </a:t>
            </a:r>
            <a:r>
              <a:rPr lang="en-US" dirty="0" err="1"/>
              <a:t>PSScriptAnalyzer</a:t>
            </a:r>
            <a:r>
              <a:rPr lang="en-US" dirty="0"/>
              <a:t> on every push</a:t>
            </a:r>
          </a:p>
          <a:p>
            <a:r>
              <a:rPr lang="en-US" b="1" dirty="0"/>
              <a:t>Automated publishing</a:t>
            </a:r>
            <a:r>
              <a:rPr lang="en-US" dirty="0"/>
              <a:t> — merge to main → publish to NuGet, every time</a:t>
            </a:r>
          </a:p>
          <a:p>
            <a:r>
              <a:rPr lang="en-US" b="1" dirty="0"/>
              <a:t>Fast feedback</a:t>
            </a:r>
            <a:r>
              <a:rPr lang="en-US" dirty="0"/>
              <a:t> — broken tests fail in minutes, not when someone notices in production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998E2C-66ED-3BDE-BEF6-D1C0B583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955" y="147817"/>
            <a:ext cx="8143337" cy="1325563"/>
          </a:xfrm>
        </p:spPr>
        <p:txBody>
          <a:bodyPr/>
          <a:lstStyle/>
          <a:p>
            <a:r>
              <a:rPr lang="en-US" dirty="0"/>
              <a:t>Why CI?</a:t>
            </a:r>
          </a:p>
        </p:txBody>
      </p:sp>
    </p:spTree>
    <p:extLst>
      <p:ext uri="{BB962C8B-B14F-4D97-AF65-F5344CB8AC3E}">
        <p14:creationId xmlns:p14="http://schemas.microsoft.com/office/powerpoint/2010/main" val="177686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A6F22-319B-108B-AAD0-20E60A00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97C04A-0D5D-770C-1EBF-A4F662EE1B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6381" y="1270000"/>
            <a:ext cx="9903723" cy="4318000"/>
          </a:xfrm>
        </p:spPr>
        <p:txBody>
          <a:bodyPr/>
          <a:lstStyle/>
          <a:p>
            <a:r>
              <a:rPr lang="en-US" b="1" dirty="0"/>
              <a:t>Share modules internally</a:t>
            </a:r>
            <a:r>
              <a:rPr lang="en-US" dirty="0"/>
              <a:t> — colleagues can Install-Module </a:t>
            </a:r>
            <a:r>
              <a:rPr lang="en-US" dirty="0" err="1"/>
              <a:t>MyModule</a:t>
            </a:r>
            <a:r>
              <a:rPr lang="en-US" dirty="0"/>
              <a:t> -Repository Internal</a:t>
            </a:r>
          </a:p>
          <a:p>
            <a:r>
              <a:rPr lang="en-US" b="1" dirty="0"/>
              <a:t>Version management</a:t>
            </a:r>
            <a:r>
              <a:rPr lang="en-US" dirty="0"/>
              <a:t> — pin to a version, upgrade deliberately</a:t>
            </a:r>
          </a:p>
          <a:p>
            <a:r>
              <a:rPr lang="en-US" b="1" dirty="0"/>
              <a:t>No more "copy this .psm1 to your modules folder"</a:t>
            </a:r>
            <a:endParaRPr lang="en-US" dirty="0"/>
          </a:p>
          <a:p>
            <a:r>
              <a:rPr lang="en-US" b="1" dirty="0"/>
              <a:t>Dependency management</a:t>
            </a:r>
            <a:r>
              <a:rPr lang="en-US" dirty="0"/>
              <a:t> — </a:t>
            </a:r>
            <a:r>
              <a:rPr lang="en-US" dirty="0" err="1"/>
              <a:t>RequiredModules</a:t>
            </a:r>
            <a:r>
              <a:rPr lang="en-US" dirty="0"/>
              <a:t> in your module manifest actually works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6FC300-0740-9FA9-95C8-4D3FA900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504" y="96446"/>
            <a:ext cx="8143337" cy="1325563"/>
          </a:xfrm>
        </p:spPr>
        <p:txBody>
          <a:bodyPr/>
          <a:lstStyle/>
          <a:p>
            <a:r>
              <a:rPr lang="en-US" dirty="0"/>
              <a:t>Why packages repo?</a:t>
            </a:r>
          </a:p>
        </p:txBody>
      </p:sp>
    </p:spTree>
    <p:extLst>
      <p:ext uri="{BB962C8B-B14F-4D97-AF65-F5344CB8AC3E}">
        <p14:creationId xmlns:p14="http://schemas.microsoft.com/office/powerpoint/2010/main" val="140683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08C2F-2236-7502-AE7B-CC4E2CDF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DB987-1109-D354-FD3A-6B064B63E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6381" y="1270000"/>
            <a:ext cx="9903723" cy="4318000"/>
          </a:xfrm>
        </p:spPr>
        <p:txBody>
          <a:bodyPr/>
          <a:lstStyle/>
          <a:p>
            <a:r>
              <a:rPr lang="en-US" b="1" dirty="0"/>
              <a:t>Data sovereignty</a:t>
            </a:r>
            <a:r>
              <a:rPr lang="en-US" dirty="0"/>
              <a:t> — your code, your infrastructure, your rules</a:t>
            </a:r>
          </a:p>
          <a:p>
            <a:r>
              <a:rPr lang="en-US" b="1" dirty="0"/>
              <a:t>Regulatory compliance</a:t>
            </a:r>
            <a:r>
              <a:rPr lang="en-US" dirty="0"/>
              <a:t> — some industries/contracts forbid cloud-hosted source control</a:t>
            </a:r>
          </a:p>
          <a:p>
            <a:r>
              <a:rPr lang="en-US" b="1" dirty="0"/>
              <a:t>European perspective</a:t>
            </a:r>
            <a:r>
              <a:rPr lang="en-US" dirty="0"/>
              <a:t> — growing skepticism about US cloud providers</a:t>
            </a:r>
          </a:p>
          <a:p>
            <a:r>
              <a:rPr lang="en-US" b="1" dirty="0"/>
              <a:t>Air-gapped environments</a:t>
            </a:r>
            <a:r>
              <a:rPr lang="en-US" dirty="0"/>
              <a:t> — a SaaS product simply isn't an option</a:t>
            </a:r>
          </a:p>
          <a:p>
            <a:r>
              <a:rPr lang="en-US" b="1" dirty="0"/>
              <a:t>Company policy</a:t>
            </a:r>
            <a:r>
              <a:rPr lang="en-US" dirty="0"/>
              <a:t> — "we don't push internal code to external services"</a:t>
            </a:r>
          </a:p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AEC212-D70D-052B-D166-05F13B92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33" y="158091"/>
            <a:ext cx="8143337" cy="1325563"/>
          </a:xfrm>
        </p:spPr>
        <p:txBody>
          <a:bodyPr/>
          <a:lstStyle/>
          <a:p>
            <a:r>
              <a:rPr lang="en-US" sz="5400" dirty="0"/>
              <a:t>Why On-Premises &amp; OS</a:t>
            </a:r>
          </a:p>
        </p:txBody>
      </p:sp>
    </p:spTree>
    <p:extLst>
      <p:ext uri="{BB962C8B-B14F-4D97-AF65-F5344CB8AC3E}">
        <p14:creationId xmlns:p14="http://schemas.microsoft.com/office/powerpoint/2010/main" val="1302593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F5F75-3F5B-4CDE-55A4-2D787A84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3639E-4CD1-9BEA-4C18-3F153142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62" y="178049"/>
            <a:ext cx="8143337" cy="1325563"/>
          </a:xfrm>
        </p:spPr>
        <p:txBody>
          <a:bodyPr/>
          <a:lstStyle/>
          <a:p>
            <a:r>
              <a:rPr lang="en-US" dirty="0"/>
              <a:t>Tech stack/Disclaimer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47DDD-40F8-1A7D-FEE0-A923FD8EB054}"/>
              </a:ext>
            </a:extLst>
          </p:cNvPr>
          <p:cNvSpPr/>
          <p:nvPr/>
        </p:nvSpPr>
        <p:spPr>
          <a:xfrm>
            <a:off x="1212351" y="1643865"/>
            <a:ext cx="2661006" cy="4479533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Source code server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CA58A3-495C-F248-64E8-20F2801B5AD1}"/>
              </a:ext>
            </a:extLst>
          </p:cNvPr>
          <p:cNvSpPr/>
          <p:nvPr/>
        </p:nvSpPr>
        <p:spPr>
          <a:xfrm>
            <a:off x="4765497" y="1641295"/>
            <a:ext cx="2661006" cy="448210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CI Pipeline</a:t>
            </a: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C182B5-7D40-184D-DD81-C72434FB651A}"/>
              </a:ext>
            </a:extLst>
          </p:cNvPr>
          <p:cNvSpPr/>
          <p:nvPr/>
        </p:nvSpPr>
        <p:spPr>
          <a:xfrm>
            <a:off x="8318643" y="1641297"/>
            <a:ext cx="2661006" cy="448210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Artifact repo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D0C51D-5150-B5E3-73DF-73AE70D65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956" y="2376474"/>
            <a:ext cx="1367750" cy="105252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330F95A-8C00-6A36-9786-6B8953E7A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837" y="2158857"/>
            <a:ext cx="1076325" cy="14859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F7C6977-8B35-C930-416B-6A1218C34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836" y="4162319"/>
            <a:ext cx="1076325" cy="1485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4EA525-C56B-05F4-8C26-C15B19201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956" y="4379006"/>
            <a:ext cx="1367750" cy="10525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A3D837-3891-0CAF-41AC-05995E96F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2016591" y="4379006"/>
            <a:ext cx="1052526" cy="10525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1854E0-2F3E-26CF-259F-1FCC9C5DE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192" y="4221430"/>
            <a:ext cx="1249455" cy="124945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05A7B812-EE0F-0DE8-EA17-667051A777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2999" y="3620145"/>
            <a:ext cx="2570245" cy="257024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C0802C9-C27D-D62E-6982-DBCCA41B8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6620" y="4124701"/>
            <a:ext cx="1367678" cy="136767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20B4A1B-2D17-D10B-7B1E-BA7865228223}"/>
              </a:ext>
            </a:extLst>
          </p:cNvPr>
          <p:cNvGrpSpPr/>
          <p:nvPr/>
        </p:nvGrpSpPr>
        <p:grpSpPr>
          <a:xfrm>
            <a:off x="5318015" y="4138996"/>
            <a:ext cx="1986120" cy="1528200"/>
            <a:chOff x="5318015" y="4138996"/>
            <a:chExt cx="1986120" cy="15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9D37F9-ED0F-6749-BC87-245BB3C6B861}"/>
                    </a:ext>
                  </a:extLst>
                </p14:cNvPr>
                <p14:cNvContentPartPr/>
                <p14:nvPr/>
              </p14:nvContentPartPr>
              <p14:xfrm>
                <a:off x="5318015" y="4181116"/>
                <a:ext cx="1206360" cy="1486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9D37F9-ED0F-6749-BC87-245BB3C6B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55015" y="4118476"/>
                  <a:ext cx="1332000" cy="16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838BF3-6A48-83F3-7E33-D1A81E5F5A21}"/>
                    </a:ext>
                  </a:extLst>
                </p14:cNvPr>
                <p14:cNvContentPartPr/>
                <p14:nvPr/>
              </p14:nvContentPartPr>
              <p14:xfrm>
                <a:off x="5390375" y="4138996"/>
                <a:ext cx="1913760" cy="126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838BF3-6A48-83F3-7E33-D1A81E5F5A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27375" y="4075996"/>
                  <a:ext cx="2039400" cy="1387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45DFA710-8489-3A57-86B4-08EF67461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8722" y="4129781"/>
            <a:ext cx="1367678" cy="1367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BFDF94-5DFA-7D83-A95D-D96D5AEED8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82762" y="2174523"/>
            <a:ext cx="1319597" cy="119080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848C59C-B296-284E-8EF5-76D19308EA2D}"/>
              </a:ext>
            </a:extLst>
          </p:cNvPr>
          <p:cNvSpPr/>
          <p:nvPr/>
        </p:nvSpPr>
        <p:spPr>
          <a:xfrm>
            <a:off x="3412051" y="3459934"/>
            <a:ext cx="181475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0B0A349-5E4A-62E1-3D9C-CB81F208DDB0}"/>
              </a:ext>
            </a:extLst>
          </p:cNvPr>
          <p:cNvSpPr/>
          <p:nvPr/>
        </p:nvSpPr>
        <p:spPr>
          <a:xfrm>
            <a:off x="6965195" y="3463487"/>
            <a:ext cx="181475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18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8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8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8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8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6 0.00023 L 0.29675 0.0092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44" y="44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93934-D31A-2C1E-FC4C-4E7FAE38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313966-3D2D-A7F3-D875-76A56359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Demo</a:t>
            </a:r>
          </a:p>
        </p:txBody>
      </p:sp>
      <p:sp>
        <p:nvSpPr>
          <p:cNvPr id="6" name="AutoShape 2" descr="Generated image: Demo time announcement design">
            <a:extLst>
              <a:ext uri="{FF2B5EF4-FFF2-40B4-BE49-F238E27FC236}">
                <a16:creationId xmlns:a16="http://schemas.microsoft.com/office/drawing/2014/main" id="{5B733BD9-6DD0-F9A3-C74F-6D29E05F20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4427" y="-252573"/>
            <a:ext cx="5969285" cy="596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7" name="AutoShape 4" descr="Generated image: Demo time announcement design">
            <a:extLst>
              <a:ext uri="{FF2B5EF4-FFF2-40B4-BE49-F238E27FC236}">
                <a16:creationId xmlns:a16="http://schemas.microsoft.com/office/drawing/2014/main" id="{7F6CA9CD-9012-859F-31A1-580A541FCB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8" name="AutoShape 6" descr="Generated image: Demo time announcement design">
            <a:extLst>
              <a:ext uri="{FF2B5EF4-FFF2-40B4-BE49-F238E27FC236}">
                <a16:creationId xmlns:a16="http://schemas.microsoft.com/office/drawing/2014/main" id="{44B3142E-B863-0C54-7732-27688959D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4024045" cy="402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8473E-D04D-8BC2-ADD1-E80FC4F4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71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DEB68-E610-6A65-B26B-DD7AC52C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AA40AA-9095-482B-4D8B-15C2B9F76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4138" y="2585289"/>
            <a:ext cx="9903723" cy="2017730"/>
          </a:xfrm>
        </p:spPr>
        <p:txBody>
          <a:bodyPr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55328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1790234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</a:p>
          <a:p>
            <a:pPr algn="ctr"/>
            <a:r>
              <a:rPr lang="en-US" sz="28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via the mobile App</a:t>
            </a:r>
          </a:p>
          <a:p>
            <a:pPr algn="ctr">
              <a:spcBef>
                <a:spcPts val="800"/>
              </a:spcBef>
            </a:pPr>
            <a:r>
              <a:rPr lang="en-US" sz="2000" dirty="0">
                <a:solidFill>
                  <a:srgbClr val="00AEEF"/>
                </a:solidFill>
                <a:latin typeface="Play" pitchFamily="2" charset="0"/>
              </a:rPr>
              <a:t>Emrys MacInally  |  @emrys.macinally.de on Bluesky</a:t>
            </a:r>
          </a:p>
          <a:p>
            <a:pPr algn="ctr">
              <a:spcBef>
                <a:spcPts val="200"/>
              </a:spcBef>
            </a:pPr>
            <a:r>
              <a:rPr lang="en-US" sz="1800" dirty="0">
                <a:solidFill>
                  <a:schemeClr val="bg1"/>
                </a:solidFill>
                <a:latin typeface="Play" pitchFamily="2" charset="0"/>
              </a:rPr>
              <a:t>Code &amp; slides available on GitHub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2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17569E-8761-4725-BC6E-7CBA075475C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8994e16-9198-4646-875e-839d9dbc057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78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</vt:lpstr>
      <vt:lpstr>Play</vt:lpstr>
      <vt:lpstr>Play </vt:lpstr>
      <vt:lpstr>Play  (Body)</vt:lpstr>
      <vt:lpstr>Space Grotesk</vt:lpstr>
      <vt:lpstr>Office Theme</vt:lpstr>
      <vt:lpstr>PowerPoint Presentation</vt:lpstr>
      <vt:lpstr>PowerPoint Presentation</vt:lpstr>
      <vt:lpstr>About Me</vt:lpstr>
      <vt:lpstr>Agenda</vt:lpstr>
      <vt:lpstr>Why this talk?</vt:lpstr>
      <vt:lpstr>Why git?</vt:lpstr>
      <vt:lpstr>Why CI?</vt:lpstr>
      <vt:lpstr>Why packages repo?</vt:lpstr>
      <vt:lpstr>Why On-Premises &amp; OS</vt:lpstr>
      <vt:lpstr>Tech stack/Disclaimer</vt:lpstr>
      <vt:lpstr>Demo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Emrys MacInally</cp:lastModifiedBy>
  <cp:revision>13</cp:revision>
  <dcterms:created xsi:type="dcterms:W3CDTF">2022-12-09T06:31:24Z</dcterms:created>
  <dcterms:modified xsi:type="dcterms:W3CDTF">2026-04-14T17:05:53Z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